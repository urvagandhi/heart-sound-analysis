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9144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solidFill>
            <a:srgbClr val="2D5AA0">
              <a:alpha val="35000"/>
            </a:srgbClr>
          </a:solidFill>
          <a:ln w="12700">
            <a:solidFill>
              <a:srgbClr val="2D5AA0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3200400"/>
            <a:ext cx="2926080" cy="2926080"/>
          </a:xfrm>
          <a:prstGeom prst="ellipse">
            <a:avLst/>
          </a:prstGeom>
          <a:solidFill>
            <a:srgbClr val="2D5AA0">
              <a:alpha val="30000"/>
            </a:srgbClr>
          </a:solidFill>
          <a:ln w="12700">
            <a:solidFill>
              <a:srgbClr val="2D5AA0">
                <a:alpha val="30000"/>
              </a:srgbClr>
            </a:solidFill>
            <a:prstDash val="solid"/>
          </a:ln>
        </p:spPr>
      </p:sp>
      <p:pic>
        <p:nvPicPr>
          <p:cNvPr id="6" name="Image 0" descr="/home/claude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02920"/>
            <a:ext cx="3017520" cy="1307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1965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Literature Review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788920"/>
            <a:ext cx="2743200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880" y="2880360"/>
            <a:ext cx="3108960" cy="1417320"/>
          </a:xfrm>
          <a:prstGeom prst="rect">
            <a:avLst/>
          </a:prstGeom>
          <a:solidFill>
            <a:srgbClr val="162F5A"/>
          </a:solidFill>
          <a:ln w="12700">
            <a:solidFill>
              <a:srgbClr val="162F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82880" y="3246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23BCE078  –  Urva Gandhi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2880" y="35661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23BCE077  –  Rakshit Gajnotar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82880" y="39136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Nirma University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4048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40480" y="8686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</a:t>
            </a:r>
            <a:endParaRPr lang="en-US" sz="3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Heart Sound</a:t>
            </a:r>
            <a:endParaRPr lang="en-US" sz="3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3840480" y="2834640"/>
            <a:ext cx="5029200" cy="41148"/>
          </a:xfrm>
          <a:prstGeom prst="rect">
            <a:avLst/>
          </a:prstGeom>
          <a:solidFill>
            <a:srgbClr val="D1DCF0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0" y="2944368"/>
            <a:ext cx="1572768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29443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 / Heart Sounds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50408" y="2944368"/>
            <a:ext cx="1572768" cy="329184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50408" y="29443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60336" y="2944368"/>
            <a:ext cx="1572768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0336" y="29443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840480" y="466344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Alrabie &amp; Barnawi (2025) · Althaph &amp; Challa (2025) · Li et al. (2020) · Ren et al. (2021) · Padhy et al. (2025)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Introduction: Heart Sounds &amp; PCG Signals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signals generated by the mechanical activity of the heart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43000"/>
            <a:ext cx="4206240" cy="150876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143000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1152144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PCG Signal?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1554480"/>
            <a:ext cx="40050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Phonocardiogram (PCG) signals are digital recordings of heart sounds captured via stethoscope. They contain vital information about cardiac mechanical function, including S1 &amp; S2 sounds and pathological murmurs.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" y="2834640"/>
            <a:ext cx="1024128" cy="3931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2834640"/>
            <a:ext cx="10241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(Lub)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35024" y="28803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of mitral &amp; tricuspid valves — start of systole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" y="3310128"/>
            <a:ext cx="1024128" cy="393192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3310128"/>
            <a:ext cx="10241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335024" y="3355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Ventricular contraction — period between S1 and S2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6032" y="3785616"/>
            <a:ext cx="1024128" cy="3931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6032" y="3785616"/>
            <a:ext cx="10241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(Dub)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35024" y="3831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of aortic &amp; pulmonary valves — end of systole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6032" y="4261104"/>
            <a:ext cx="1024128" cy="393192"/>
          </a:xfrm>
          <a:prstGeom prst="rect">
            <a:avLst/>
          </a:prstGeom>
          <a:solidFill>
            <a:srgbClr val="2E7D8A"/>
          </a:solidFill>
          <a:ln w="12700">
            <a:solidFill>
              <a:srgbClr val="2E7D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" y="4261104"/>
            <a:ext cx="10241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335024" y="43068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Ventricular relaxation — period between S2 and next S1</a:t>
            </a:r>
            <a:endParaRPr lang="en-US" sz="1000" dirty="0"/>
          </a:p>
        </p:txBody>
      </p:sp>
      <p:pic>
        <p:nvPicPr>
          <p:cNvPr id="23" name="Image 1" descr="/home/claude/image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43000"/>
            <a:ext cx="4224528" cy="18288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63440" y="2990088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Normal heartbeat cycle showing S1, systole, S2 &amp; diastole phases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663440" y="3310128"/>
            <a:ext cx="4224528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663440" y="3310128"/>
            <a:ext cx="4224528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18304" y="33101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Abnormalities Indicated by PCG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754880" y="368503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10328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Stenosis  —  narrowing of heart valves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54880" y="391363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10328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Regurgitation  —  backward blood leakage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754880" y="414223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10328" y="4114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Murmurs  —  turbulent blood flow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754880" y="437083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10328" y="4343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Mitral Valve Prolapse  —  leaflet displacement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Alrabie &amp; Barnawi (2025) · Ren et al. (2021)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Importance of Early Detection &amp; Motivation for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analysis is essential for clinical cardiology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43000"/>
            <a:ext cx="2743200" cy="1234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56032" y="1188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56032" y="182880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Death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(CVD)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74320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0" y="1188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17.9M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200400" y="182880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CVD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Globally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44768" y="1143000"/>
            <a:ext cx="274320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44768" y="1188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144768" y="182880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Preventable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Diagnosis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56032" y="2578608"/>
            <a:ext cx="4251960" cy="2011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2578608"/>
            <a:ext cx="4251960" cy="3383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" y="2578608"/>
            <a:ext cx="4160520" cy="3383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Traditional Auscultation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7472" y="299008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5216" y="299008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physician interpretation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47472" y="33101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5216" y="331012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clinical experience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47472" y="36301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5216" y="363016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Noise-sensitive — misses subtle murmurs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47472" y="39502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5216" y="395020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variability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47472" y="427024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85216" y="42702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in resource-limited settings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54880" y="2578608"/>
            <a:ext cx="4114800" cy="20116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578608"/>
            <a:ext cx="4114800" cy="3383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9744" y="2578608"/>
            <a:ext cx="4005072" cy="33832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AI-Based PCG Analysis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28032" y="299008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84064" y="299008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&amp; objective predictions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828032" y="331012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84064" y="331012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thousands of recordings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828032" y="363016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084064" y="363016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patterns invisible to human ear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828032" y="395020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84064" y="395020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triage in underserved regions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828032" y="427024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84064" y="427024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provides clinically interpretable output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WHO CVD Report · Li et al. (2020) · Chakrabarty et al. (2025)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&amp; Model Benchmarks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PCG datasets and state-of-the-art classification results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43000"/>
          <a:ext cx="863193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417320"/>
                <a:gridCol w="1920240"/>
                <a:gridCol w="18745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(2020)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PhysioNet/CinC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(Binary)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Eng. + CNN (GAP)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Accuracy: 86.8%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 et al. (2021)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Sounds Shenzhen (HSS)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(Normal, Mild, Severe)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Global Attention Pooling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UAR: 51.2%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Alrabie &amp; Barnawi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HeartWave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(Normal, Sys., Dia., Abn.)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+ SE + Multi-Head 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Acc: 97.3%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mIoU: 82.0%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Padhy et al.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PhysioNet/CinC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(AS, MR, MS, MVP, Norm.)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X-CBNet (CNN-BiLSTM)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Acc: 99.15%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AUC: 0.99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Althaph &amp; Challa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HeartWave + PhysioNet + others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(up to 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EHST — Explainable HeartSound 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Acc: 96.7% (HW)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Acc: 90.3% (PN)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56032" y="4315968"/>
            <a:ext cx="8631936" cy="420624"/>
          </a:xfrm>
          <a:prstGeom prst="rect">
            <a:avLst/>
          </a:prstGeom>
          <a:solidFill>
            <a:srgbClr val="E8F5E9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4315968"/>
            <a:ext cx="64008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2336" y="43525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HeartWave Dataset: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737360" y="435254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1,353 recordings · Cardiologist-annotated · Detailed S1/Systole/S2/Diastole segmentation · Multiple CVD classes (AS, MR, Tricuspid disorders)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Li et al. (2020) · Ren et al. (2021) · Alrabie &amp; Barnawi (2025) · Padhy et al. (2025) · Althaph &amp; Challa (2025)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of Methodologies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handcrafted features to attention-driven transformer architectures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700784" y="1737360"/>
            <a:ext cx="137160" cy="457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46504" y="1673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" y="1170432"/>
            <a:ext cx="1444752" cy="118872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" y="12344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Pre-2015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" y="1472184"/>
            <a:ext cx="14447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82696" y="1737360"/>
            <a:ext cx="137160" cy="457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28416" y="1673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37944" y="1170432"/>
            <a:ext cx="1444752" cy="1188720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837944" y="12344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2016–18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837944" y="1472184"/>
            <a:ext cx="14447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864608" y="1737360"/>
            <a:ext cx="137160" cy="457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0328" y="1673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19856" y="1170432"/>
            <a:ext cx="1444752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419856" y="12344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419856" y="1472184"/>
            <a:ext cx="14447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RNN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46520" y="1737360"/>
            <a:ext cx="137160" cy="457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1673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001768" y="1170432"/>
            <a:ext cx="1444752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001768" y="12344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01768" y="1472184"/>
            <a:ext cx="14447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583680" y="1170432"/>
            <a:ext cx="1444752" cy="1188720"/>
          </a:xfrm>
          <a:prstGeom prst="rect">
            <a:avLst/>
          </a:prstGeom>
          <a:solidFill>
            <a:srgbClr val="0A5567"/>
          </a:solidFill>
          <a:ln w="12700">
            <a:solidFill>
              <a:srgbClr val="0A55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83680" y="12344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83680" y="1472184"/>
            <a:ext cx="14447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256032" y="2542032"/>
            <a:ext cx="8631936" cy="214884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56032" y="2542032"/>
            <a:ext cx="8631936" cy="3108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7472" y="2542032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Pipeline (Li et al., 2020) — Block Diagram</a:t>
            </a:r>
            <a:endParaRPr lang="en-US" sz="1150" dirty="0"/>
          </a:p>
        </p:txBody>
      </p:sp>
      <p:pic>
        <p:nvPicPr>
          <p:cNvPr id="33" name="Image 1" descr="/home/claude/image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2926080"/>
            <a:ext cx="5486400" cy="141732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263640" y="294436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19088" y="29077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 → Preprocessing → Segmentation (S1/Sys/S2/Dia)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263640" y="326440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19088" y="322783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4 cardiac phases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263640" y="358444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19088" y="354787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replaces FC layers with Global Average Pooling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263640" y="390448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19088" y="386791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 on small medical datasets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263640" y="422452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19088" y="418795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learning from raw spectrograms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Li et al. (2020) · Ren et al. (2021) · Padhy et al. (2025)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CNN–BiLSTM: X-CBNet (Padhy et al., 2025)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spatial feature extraction with temporal sequence modeling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43000"/>
            <a:ext cx="3154680" cy="354787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143000"/>
            <a:ext cx="315468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1143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X-CBNet Architecture</a:t>
            </a:r>
            <a:endParaRPr lang="en-US" sz="1200" dirty="0"/>
          </a:p>
        </p:txBody>
      </p:sp>
      <p:pic>
        <p:nvPicPr>
          <p:cNvPr id="10" name="Image 1" descr="/home/claude/image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554480"/>
            <a:ext cx="2651760" cy="2999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11430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Hybrid Models?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57600" y="1600200"/>
            <a:ext cx="521208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0" y="1600200"/>
            <a:ext cx="64008" cy="713232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67328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CNNs: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767328" y="18836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spatial features from 2D spectrogram representations (local time-frequency patterns)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0" y="2404872"/>
            <a:ext cx="521208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0" y="2404872"/>
            <a:ext cx="64008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767328" y="2432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(BiLSTM):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767328" y="26883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temporal dependencies across the sequential S1 → Systole → S2 → Diastole cardiac cycle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0" y="3291840"/>
            <a:ext cx="5212080" cy="292608"/>
          </a:xfrm>
          <a:prstGeom prst="rect">
            <a:avLst/>
          </a:prstGeom>
          <a:solidFill>
            <a:srgbClr val="EBF2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30752" y="3310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937760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PCG Signal → Butterworth Filter → Segmentation → Feature Extraction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657600" y="3621024"/>
            <a:ext cx="5212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30752" y="36393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937760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Extractor → Sequential BiLSTM layers (Forward + Backward) → Dropout → Softmax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657600" y="3950208"/>
            <a:ext cx="5212080" cy="292608"/>
          </a:xfrm>
          <a:prstGeom prst="rect">
            <a:avLst/>
          </a:prstGeom>
          <a:solidFill>
            <a:srgbClr val="EBF2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730752" y="39684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937760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5-class: Aortic Stenosis, Mitral Regurgitation, MS, MVP, Normal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657600" y="4279392"/>
            <a:ext cx="5212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730752" y="4297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937760" y="4297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99.15% · AUC 0.99 · State-of-the-art on PhysioNet/CinC 2016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657600" y="4608576"/>
            <a:ext cx="5212080" cy="292608"/>
          </a:xfrm>
          <a:prstGeom prst="rect">
            <a:avLst/>
          </a:prstGeom>
          <a:solidFill>
            <a:srgbClr val="EBF2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730752" y="4626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937760" y="4626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Explainability module integrated for clinical transparency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Padhy et al. (2025) — X-CBNet: Explainable Deep Learning for Valvular Disease via PCG. Biomedical Signal Processing and Control.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Attention-Based Models (Alrabie &amp; Barnawi, 2025)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blocks + Multi-Head Attention integrated with ResNet50 for interpretable classification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43000"/>
            <a:ext cx="5029200" cy="3520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143000"/>
            <a:ext cx="50292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114300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— Alrabie &amp; Barnawi (2025)</a:t>
            </a:r>
            <a:endParaRPr lang="en-US" sz="1150" dirty="0"/>
          </a:p>
        </p:txBody>
      </p:sp>
      <p:pic>
        <p:nvPicPr>
          <p:cNvPr id="10" name="Image 1" descr="/home/claude/image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4048" y="1536192"/>
            <a:ext cx="4800600" cy="3017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0" y="1143000"/>
            <a:ext cx="3383280" cy="169164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0" y="1143000"/>
            <a:ext cx="338328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59552" y="1143000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Squeeze-and-Excitation (SE) Block</a:t>
            </a:r>
            <a:endParaRPr lang="en-US" sz="1100" dirty="0"/>
          </a:p>
        </p:txBody>
      </p:sp>
      <p:pic>
        <p:nvPicPr>
          <p:cNvPr id="14" name="Image 2" descr="/home/claude/image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77840" y="1536192"/>
            <a:ext cx="3200400" cy="1188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0" y="2944368"/>
            <a:ext cx="3383280" cy="301752"/>
          </a:xfrm>
          <a:prstGeom prst="rect">
            <a:avLst/>
          </a:prstGeom>
          <a:solidFill>
            <a:srgbClr val="EBF2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559552" y="29626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601968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HeartWave — 1,353 PCG recordings, 4 classes, manual expert segmentation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0" y="3282696"/>
            <a:ext cx="3383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559552" y="3300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601968" y="3300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filter → Mel spectrogram images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486400" y="3621024"/>
            <a:ext cx="3383280" cy="301752"/>
          </a:xfrm>
          <a:prstGeom prst="rect">
            <a:avLst/>
          </a:prstGeom>
          <a:solidFill>
            <a:srgbClr val="EBF2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559552" y="3639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601968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ResNet50 / MobileNet / VGG19 + SE Attention + Multi-Head Attention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0" y="3959352"/>
            <a:ext cx="3383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559552" y="3977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Method: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601968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 validate attention regions vs. clinical ground-truth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86400" y="4297680"/>
            <a:ext cx="3383280" cy="301752"/>
          </a:xfrm>
          <a:prstGeom prst="rect">
            <a:avLst/>
          </a:prstGeom>
          <a:solidFill>
            <a:srgbClr val="EBF2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559552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Result: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601968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97.3% · mIoU 82.0% — highest interpretability score in literature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Alrabie &amp; Barnawi (2025) — Bioengineering vol.12 no.6. doi:10.3390/bioengineering12060558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Transformer-Based Models: EHST (Althaph &amp; Challa, 2025)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HeartSound Transformer with self-attention and Grad-CAM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43000"/>
            <a:ext cx="4160520" cy="3520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143000"/>
            <a:ext cx="4160520" cy="329184"/>
          </a:xfrm>
          <a:prstGeom prst="rect">
            <a:avLst/>
          </a:prstGeom>
          <a:solidFill>
            <a:srgbClr val="0A5567"/>
          </a:solidFill>
          <a:ln w="12700">
            <a:solidFill>
              <a:srgbClr val="0A556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11430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EHST Architecture — Althaph &amp; Challa (2025)</a:t>
            </a:r>
            <a:endParaRPr lang="en-US" sz="1100" dirty="0"/>
          </a:p>
        </p:txBody>
      </p:sp>
      <p:pic>
        <p:nvPicPr>
          <p:cNvPr id="10" name="Image 1" descr="/home/claude/image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536192"/>
            <a:ext cx="3840480" cy="3017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114300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Transformers for PCG?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645152" y="1572768"/>
            <a:ext cx="4242816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45152" y="1572768"/>
            <a:ext cx="64008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1600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54880" y="1837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all time steps of the cardiac signal simultaneously — no sequential bottleneck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45152" y="2350008"/>
            <a:ext cx="4242816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45152" y="2350008"/>
            <a:ext cx="64008" cy="685800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Dependencies: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754880" y="26151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relationships between S1 and S2 events across entire cardiac cycles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45152" y="3127248"/>
            <a:ext cx="4242816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45152" y="3127248"/>
            <a:ext cx="64008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3154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Processing: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754880" y="33924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allows focusing on multiple frequency bands simultaneously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45152" y="3904488"/>
            <a:ext cx="4242816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45152" y="3904488"/>
            <a:ext cx="64008" cy="685800"/>
          </a:xfrm>
          <a:prstGeom prst="rect">
            <a:avLst/>
          </a:prstGeom>
          <a:solidFill>
            <a:srgbClr val="0A5567"/>
          </a:solidFill>
          <a:ln w="12700">
            <a:solidFill>
              <a:srgbClr val="0A556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XAI: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754880" y="41696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+ Grad-CAM provide direct visual explanation of classification decisions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45152" y="4718304"/>
            <a:ext cx="4242816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Althaph &amp; Challa (2025) — Explainable Attention-Based Deep Learning for Heart Murmur Classification. Scientific Reports.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Representation of PCG Signals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and time-frequency feature extraction methods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70432"/>
            <a:ext cx="14173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56032" y="11704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PCG Signal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682496" y="13258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783080" y="1170432"/>
            <a:ext cx="1417320" cy="594360"/>
          </a:xfrm>
          <a:prstGeom prst="rect">
            <a:avLst/>
          </a:prstGeom>
          <a:solidFill>
            <a:srgbClr val="2D5AA0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783080" y="11704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(4th-order Butterworth IIR)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9544" y="13258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10128" y="1170432"/>
            <a:ext cx="1417320" cy="594360"/>
          </a:xfrm>
          <a:prstGeom prst="rect">
            <a:avLst/>
          </a:prstGeom>
          <a:solidFill>
            <a:srgbClr val="2D5AA0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10128" y="11704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36592" y="13258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37176" y="1170432"/>
            <a:ext cx="1417320" cy="594360"/>
          </a:xfrm>
          <a:prstGeom prst="rect">
            <a:avLst/>
          </a:prstGeom>
          <a:solidFill>
            <a:srgbClr val="2D5AA0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37176" y="11704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(S1, Sys, S2, Dia)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63640" y="13258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64224" y="1170432"/>
            <a:ext cx="141732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64224" y="11704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6032" y="1938528"/>
            <a:ext cx="8631936" cy="1298448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56032" y="1938528"/>
            <a:ext cx="8631936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1938528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PCG Signal — Cardiac Cycle with Labelled S1, S2, Systole and Diastole Phases</a:t>
            </a:r>
            <a:endParaRPr lang="en-US" sz="1100" dirty="0"/>
          </a:p>
        </p:txBody>
      </p:sp>
      <p:pic>
        <p:nvPicPr>
          <p:cNvPr id="24" name="Image 1" descr="/home/claude/image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2286000"/>
            <a:ext cx="7863840" cy="87782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256032" y="3383280"/>
            <a:ext cx="28346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56032" y="3383280"/>
            <a:ext cx="283464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9184" y="339242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(STFT)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29184" y="369417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Short-Time Fourier Transform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" y="397764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PCG wave to 2D time-frequency image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 window for optimal time-frequency trade-off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(X-axis) × Frequency (Y-axis) grid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CNN-based classifiers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246120" y="3383280"/>
            <a:ext cx="28346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246120" y="3383280"/>
            <a:ext cx="2834640" cy="548640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319272" y="339242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Spectrogram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319272" y="369417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Perceptually-scaled frequency</a:t>
            </a:r>
            <a:endParaRPr lang="en-US" sz="900" dirty="0"/>
          </a:p>
        </p:txBody>
      </p:sp>
      <p:pic>
        <p:nvPicPr>
          <p:cNvPr id="34" name="Image 2" descr="/home/claude/image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19272" y="3977640"/>
            <a:ext cx="2688336" cy="86868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6236208" y="3383280"/>
            <a:ext cx="28346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236208" y="3383280"/>
            <a:ext cx="283464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309360" y="339242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309360" y="369417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Mel-Frequency Cepstral Coefficients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327648" y="397764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spectral envelope representation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acoustic frequencies to perceptual scale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Transformer architectures (EHST)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pathological signatures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Ren et al. (2021) · Li et al. (2020) · Althaph &amp; Challa (2025)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Evaluation Metrics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Dual-metric framework: Predictive accuracy + Interpretability validation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43000"/>
            <a:ext cx="420624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184" y="11430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Predictive Metrics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6032" y="15087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508760"/>
            <a:ext cx="2011680" cy="301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" y="15453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" y="1856232"/>
            <a:ext cx="1865376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185623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 + TN) / (TP + TN + FP + FN)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32304" y="1508760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32304" y="1508760"/>
            <a:ext cx="2011680" cy="301752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05456" y="15453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05456" y="1856232"/>
            <a:ext cx="1865376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05456" y="185623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5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56032" y="2404872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56032" y="2404872"/>
            <a:ext cx="2011680" cy="3017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" y="244144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9184" y="2752344"/>
            <a:ext cx="1865376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" y="275234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432304" y="2404872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432304" y="2404872"/>
            <a:ext cx="2011680" cy="301752"/>
          </a:xfrm>
          <a:prstGeom prst="rect">
            <a:avLst/>
          </a:prstGeom>
          <a:solidFill>
            <a:srgbClr val="2E7D8A"/>
          </a:solidFill>
          <a:ln w="12700">
            <a:solidFill>
              <a:srgbClr val="2E7D8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05456" y="244144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05456" y="2752344"/>
            <a:ext cx="1865376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505456" y="275234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2×(Precision×Recall)/(P+R)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17720" y="1143000"/>
            <a:ext cx="4251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90872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&amp; Imbalance-Aware Metrics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617720" y="150876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617720" y="1508760"/>
            <a:ext cx="4251960" cy="301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90872" y="15453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AUC-ROC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690872" y="1856232"/>
            <a:ext cx="4114800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90872" y="1856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Under ROC Curve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617720" y="242316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17720" y="2423160"/>
            <a:ext cx="4251960" cy="301752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90872" y="24597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UAR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690872" y="2770632"/>
            <a:ext cx="4114800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90872" y="27706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(1/N) × Σ Recallᵢ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17720" y="333756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617720" y="3337560"/>
            <a:ext cx="4251960" cy="3017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90872" y="33741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MCC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690872" y="3685032"/>
            <a:ext cx="4114800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90872" y="36850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(TP×TN−FP×FN)/√[(TP+FP)(TP+FN)(TN+FP)(TN+FN)]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56032" y="4261104"/>
            <a:ext cx="8631936" cy="420624"/>
          </a:xfrm>
          <a:prstGeom prst="rect">
            <a:avLst/>
          </a:prstGeom>
          <a:solidFill>
            <a:srgbClr val="FEF9E7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56032" y="4261104"/>
            <a:ext cx="64008" cy="420624"/>
          </a:xfrm>
          <a:prstGeom prst="rect">
            <a:avLst/>
          </a:prstGeom>
          <a:solidFill>
            <a:srgbClr val="C8970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2336" y="4297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Metric (mIoU):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542032" y="4297680"/>
            <a:ext cx="6291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= (Prediction ∩ GroundTruth) / (Prediction ∪ GroundTruth)   ·   mIoU = (1/N)×Σ IoUᵢ   ·   Fidelity = (1/N)×Σ I(f(xᵢ)=g(xᵢ))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Li et al. (2020) · Alrabie &amp; Barnawi (2025) — TP=True Positive, TN=True Negative, FP=False Positive, FN=False Negative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 (XAI) Techniques in Heart Sound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deep learning clinically transparent and trustworthy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43000"/>
            <a:ext cx="8631936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1143000"/>
            <a:ext cx="64008" cy="548640"/>
          </a:xfrm>
          <a:prstGeom prst="rect">
            <a:avLst/>
          </a:prstGeom>
          <a:solidFill>
            <a:srgbClr val="C8970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" y="1188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XAI Challenge: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2336" y="1426464"/>
            <a:ext cx="8366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are black boxes — clinicians cannot understand why a diagnosis was made. XAI techniques bridge this gap by revealing which cardiac phases or frequency regions drove the prediction, enabling clinical validation.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" y="1828800"/>
            <a:ext cx="2834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1828800"/>
            <a:ext cx="283464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1856232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Grad-CAM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29184" y="2194560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Gradient-weighted Class Activation Mapping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47472" y="2505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7472" y="270662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Backpropagates class-score gradients to the last convolutional feature map. The gradient magnitudes identify which spatial regions in the spectrogram were most influential in triggering the classification decision.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7472" y="3749040"/>
            <a:ext cx="265176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" y="37764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PCG Analysis: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02336" y="397764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WHICH cardiac phases (S2 murmur vs. normal S1) drove the prediction as visual heatmaps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46120" y="1828800"/>
            <a:ext cx="2834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46120" y="1828800"/>
            <a:ext cx="2834640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9272" y="1856232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319272" y="2194560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337560" y="2505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37560" y="270662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approach assigning contribution scores to each input feature across all possible subsets. Provides global &amp; local feature importance rankings consistent with mathematical fairness axioms.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337560" y="3749040"/>
            <a:ext cx="265176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92424" y="37764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PCG Analysis: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392424" y="397764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HOW MUCH each frequency band or time segment contributed to the abnormal prediction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36208" y="1828800"/>
            <a:ext cx="2834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236208" y="1828800"/>
            <a:ext cx="2834640" cy="621792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1856232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LIME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309360" y="2194560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327648" y="2505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327648" y="270662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the complex model locally with a simple interpretable surrogate (linear model) around a single prediction instance, using perturbed input samples.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327648" y="3749040"/>
            <a:ext cx="265176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82512" y="37764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PCG Analysis: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382512" y="397764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individual predictions through simplified local models — model-agnostic approach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Alrabie &amp; Barnawi (2025) · Chakrabarty et al. (2025) · Ramakrishna et al. (2024) · Padhy et al. (2025)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Gaps &amp; Open Challenges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barriers to clinical integration of AI heart sound 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70432"/>
            <a:ext cx="8631936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170432"/>
            <a:ext cx="621792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1216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'Knowledge Gap' in Visual XAI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05840" y="1472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 highlight where the model looks, but do not translate findings to medical terminology. A pixel highlight does not tell a cardiologist whether the model detected an 'abnormal S2 split' or a 'midsystolic click.'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" y="1874520"/>
            <a:ext cx="86319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1874520"/>
            <a:ext cx="621792" cy="621792"/>
          </a:xfrm>
          <a:prstGeom prst="rect">
            <a:avLst/>
          </a:prstGeom>
          <a:solidFill>
            <a:srgbClr val="2D5AA0"/>
          </a:solidFill>
          <a:ln w="12700">
            <a:solidFill>
              <a:srgbClr val="2D5A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18745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0584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Limitations &amp; Annotation Scarcity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05840" y="2176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PCG datasets are often small, noisy, or lack detailed annotations. Limited data restricts generalization across diverse clinical environments and patient demographics.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6032" y="2578608"/>
            <a:ext cx="8631936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578608"/>
            <a:ext cx="621792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25786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00584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Reliability in Pathological PCGs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05840" y="2880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segmentation (e.g., HMM-based) is highly error-prone in the presence of pathological murmurs. Manual expert segmentation vastly improves XAI reliability but is resource-intensive and unscalable.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56032" y="3282696"/>
            <a:ext cx="86319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56032" y="3282696"/>
            <a:ext cx="621792" cy="621792"/>
          </a:xfrm>
          <a:prstGeom prst="rect">
            <a:avLst/>
          </a:prstGeom>
          <a:solidFill>
            <a:srgbClr val="2E7D8A"/>
          </a:solidFill>
          <a:ln w="12700">
            <a:solidFill>
              <a:srgbClr val="2E7D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328269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005840" y="3328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Single-Label vs. Multi-Label Clinical Reality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05840" y="3584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treats VHD as a single-label problem. In reality, patients frequently present with concurrent conditions (e.g., regurgitation + stenosis simultaneously) — a gap future architectures must address.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56032" y="3986784"/>
            <a:ext cx="8631936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56032" y="3986784"/>
            <a:ext cx="621792" cy="621792"/>
          </a:xfrm>
          <a:prstGeom prst="rect">
            <a:avLst/>
          </a:prstGeom>
          <a:solidFill>
            <a:srgbClr val="1E6B5A"/>
          </a:solidFill>
          <a:ln w="12700">
            <a:solidFill>
              <a:srgbClr val="1E6B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6032" y="398678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1005840" y="4032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Noise &amp; Hardware Heterogeneity (Domain Shift)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005840" y="42885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one recording device suffer significant 'domain shift' when applied to different digital stethoscopes, each with unique sensor sensitivities and frequency response characteristics.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Alrabie &amp; Barnawi (2025) · Padhy et al. (2025) · Chakrabarty et al. (2025)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3736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887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Research Directions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literature findings and next steps for clinical-grade AI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" y="1170432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 from Literature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" y="1572768"/>
            <a:ext cx="8631936" cy="438912"/>
          </a:xfrm>
          <a:prstGeom prst="rect">
            <a:avLst/>
          </a:prstGeom>
          <a:solidFill>
            <a:srgbClr val="EBF3FD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" y="1572768"/>
            <a:ext cx="64008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6276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→ Deep Learning: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05456" y="16276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with GAP outperform handcrafted SVM/HMM approaches, achieving 86.8%+ on standard benchmarks (Li et al., 2020)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6032" y="2084832"/>
            <a:ext cx="86319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" y="2084832"/>
            <a:ext cx="64008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13969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CNN-BiLSTM: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505456" y="213969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X-CBNet integrates spatial feature extraction with temporal sequence modeling, achieving 99.15% accuracy on 5-class valvular disease (Padhy et al., 2025)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56032" y="2596896"/>
            <a:ext cx="8631936" cy="438912"/>
          </a:xfrm>
          <a:prstGeom prst="rect">
            <a:avLst/>
          </a:prstGeom>
          <a:solidFill>
            <a:srgbClr val="EBF3FD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2596896"/>
            <a:ext cx="6400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26517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505456" y="26517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blocks + Multi-Head Attention with ResNet50 achieves 97.3% accuracy and mIoU 82.0% — highest interpretability alignment in literature (Alrabie &amp; Barnawi, 2025)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56032" y="3108960"/>
            <a:ext cx="86319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6032" y="3108960"/>
            <a:ext cx="6400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3163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505456" y="316382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EHST achieves 96.7% accuracy on HeartWave and 90.3% on PhysioNet while providing XAI transparency via Grad-CAM (Althaph &amp; Challa, 2025)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56032" y="3767328"/>
            <a:ext cx="8631936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3767328"/>
            <a:ext cx="8449056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Research Directions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56032" y="4224528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1330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annotated datasets with diverse patient demographics and multi-site clinical recordings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90872" y="4224528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41330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automated segmentation algorithms robust to pathological murmurs and noise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56032" y="4617720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5262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analysis: Combining PCG + ECG signals for comprehensive cardiac profiling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690872" y="4617720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92040" y="45262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studies verifying AI explanations against expert cardiologist annotations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2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56032" y="49103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Alrabie &amp; Barnawi (2025) · Althaph &amp; Challa (2025) · Padhy et al. (2025) · Li et al. (2020)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16152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Alrabie &amp; Barnawi (2025). Are AI Models Listening Like Cardiologists? Bioengineering 12(6). doi:10.3390/bioengineering12060558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83664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83664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29384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Althaph &amp; Challa (2025). Explainable Attention-Based Deep Learning for Heart Murmurs via PCG. Scientific Reports. doi:10.1038/s41598-025-21971-x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596896"/>
            <a:ext cx="42062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96896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642616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Ramakrishna et al. (2024). Explainable ML for Heart Sound Abnormality Detection. IJECE 36(2):846–853. doi:10.11591/ijeecs.v36.i2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310128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10128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355848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Chakrabarty et al. (2025). Can We Trust AI With Our Ears? Cross-Domain Explainability in Audio AI. IEEE Access. doi:10.1109/ACCESS.2025.3622161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42062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023360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4069080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Ren et al. (2021). Heart Sound Classification via Deep Representation Learning + Attention. IEEE Access. ieeexplore.ieee.org/9334386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1170432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1170432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1216152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Li et al. (2020). Classification of Heart Sounds Using CNN with Global Average Pooling. IEEE Access. ieeexplore.ieee.org/9069940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73168" y="1883664"/>
            <a:ext cx="42062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1883664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929384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Padhy et al. (2025). X-CBNet: Explainable CNN-BiLSTM for Valvular Disorder via PCG. Biomed. Signal Proc. &amp; Control. doi:10.1016/j.bspc.2025.105336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73168" y="259689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2596896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642616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PhysioNet/CinC Challenge 2016 Dataset. physionet.org/content/challenge-2016/1.0.0/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3310128"/>
            <a:ext cx="42062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310128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355848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CirCor DigiScope Phonocardiogram Dataset (2022). physionet.org/content/circor-heart-sound/1.0.3/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402336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4023360"/>
            <a:ext cx="54864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4069080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HeartWave Dataset (referenced in Alrabie &amp; Barnawi, 2025). doi:10.3390/bioengineering12060558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for Heart Sound Analysis</dc:title>
  <dc:subject>PptxGenJS Presentation</dc:subject>
  <dc:creator>PptxGenJS</dc:creator>
  <cp:lastModifiedBy>PptxGenJS</cp:lastModifiedBy>
  <cp:revision>1</cp:revision>
  <dcterms:created xsi:type="dcterms:W3CDTF">2026-03-12T14:01:16Z</dcterms:created>
  <dcterms:modified xsi:type="dcterms:W3CDTF">2026-03-12T14:01:16Z</dcterms:modified>
</cp:coreProperties>
</file>